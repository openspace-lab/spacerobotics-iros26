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84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94"/>
  </p:normalViewPr>
  <p:slideViewPr>
    <p:cSldViewPr snapToGrid="0">
      <p:cViewPr>
        <p:scale>
          <a:sx n="224" d="100"/>
          <a:sy n="224" d="100"/>
        </p:scale>
        <p:origin x="-488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A9CA83-B71B-C542-8660-77F24F2661FD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73644C-5B9A-3846-8745-9462972A2EC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9451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5F4C-8B10-0584-E7C1-33342A8A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76F6221-964A-A3B9-515B-E0CE0FE9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BF540E-FE66-AA92-C1AF-1092B0817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58DA0F4-3EA9-FDD9-8C9E-18FD69D80E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46FA8A-FC2F-455D-827C-4D31AF18E42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4282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C1D197-1F7D-4837-1949-F64004FDC0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5659FC9-3180-7BD3-A7A8-9FF7011CB9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8F9220-DD49-E685-ECFE-11702DBA1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44D735-50AE-D2A5-7708-EF54B58F5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716095-31C3-ABFE-F131-E890C35CC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07220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F0B565-ACD1-6F14-8F83-56678E5B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734B6D-1426-A990-CFDD-52C683058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95B7BE-E94D-1DE3-E74A-AD1A3E14F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A8D4CF-B4FC-D99B-2929-7184A7486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882FF4-346A-2D01-DA25-8AFC3A897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7776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D4BA17-5915-FC84-401D-C110C7725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5909013-0921-A423-52EB-7D7D9992A1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6F4B3B-925B-AFB5-AD6E-D5E6AE57D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6E4666-B0D9-54BA-C47D-9E71A765A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033ABE-DE02-654B-6D07-329B3EFAC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9229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F15C2-9A8C-0342-E919-BAA974A8D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613524-F4E5-41A9-EF28-EF10C92A79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3644847-3D5F-434B-4FF9-48766EBBD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CE758E-D8E6-7080-1694-11744B87A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801A01-D62C-9C5B-E856-499D627EF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00F983-265B-16CE-FCC9-422849A8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95524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ACCB2F-4D8C-9494-9EBD-BCCCF3EBB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4E6E777-5949-22DD-0A8F-BC0E7744FB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6D10A7-B573-96A6-0D8B-0676861547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7E34B4-1B65-EC70-7D47-F300C46848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8F45380-77A1-ECB5-B602-053C717AC6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EF92AEB-0DCD-F433-C854-0B0156093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8B5A4BF-D8EB-EA72-521B-204337D12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F6E7406-C3F5-E073-66C7-710A7CF04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66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ADE18-E32D-90E2-A909-E37D0C83A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808C598-0FCF-D1DB-06D3-2B18235B4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4AE2AC6-862C-331F-299A-E6FBF9EB9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80746FC-5AF4-AA02-1A2B-10D879279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061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FFB3A03-818B-50D3-60CF-4AE930C5C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28EF4E8-6524-A84B-49CB-33189EC91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4BFEF4-114E-B65A-197E-E1C93B507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0537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19858E-F8B9-768E-5202-EB8E88A0F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D21E0E-54BB-B34B-A93D-72EA61AC6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22D3485-EE63-9B35-60DD-1CD3A332CF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2D01F98-94E6-0BCF-640E-BABAE4D75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245A4EB-9726-9D25-870B-0702A87F6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9440108-A95E-50B3-845D-5CD38AF3E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04373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CE97AD-E566-9D25-4933-6B9A656E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5AEDAA8-BCFF-9CE8-EDD2-7C118DEDD1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91025EF-B0B4-6EE0-D228-D63C7344B0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6E33B7-4BBD-C33D-9EF0-E24343478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EFEBEC7-BFF3-0ECB-F0DD-E42454E9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7C67AF-072F-F4B6-87C1-A9B43C7CD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9906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CC5BC1-B134-7799-F8A4-3BA509D1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70749EB-98EF-03D4-8404-F6DC4115B9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D1B92F-81C2-FDD6-E437-2AC7A0720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EA788A-3352-1F84-C56E-FAF189F4B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34247D-FC9A-EBFB-8A46-379CD8CC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8770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8AA1814-5B75-4241-E3EE-77625A50C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11DEA39-5CEF-E97B-77C4-0518DCFE4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F5AC78-C998-98F9-3E02-7C80E3267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134C2E-5854-C0E4-F0FC-99103184D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C284DC-E6F7-CD9B-E117-E2DC2FE1F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5301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2F70638-C037-0056-43AE-7D24A2576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04E7E8-26FE-B796-12A7-2E76D770DB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6BA9DF-3B66-CDEB-0F4B-804EB00A59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19E63-5A45-3942-871F-402E4DB43849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E4AC8D-A3A3-C682-97D2-91C7D4657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E35F66-D112-66AB-D760-8F20E1736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18061-532C-FB43-A6C6-0B280A095EC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06374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jpe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microsoft.com/office/2007/relationships/hdphoto" Target="../media/hdphoto1.wdp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0015F-42FE-85DE-56F2-9F522D5CE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F09EBB0-6A17-45AA-80C7-82A172EA9384}"/>
              </a:ext>
            </a:extLst>
          </p:cNvPr>
          <p:cNvSpPr/>
          <p:nvPr/>
        </p:nvSpPr>
        <p:spPr>
          <a:xfrm>
            <a:off x="3670660" y="1006953"/>
            <a:ext cx="4850681" cy="5366266"/>
          </a:xfrm>
          <a:prstGeom prst="rect">
            <a:avLst/>
          </a:prstGeom>
          <a:gradFill flip="none" rotWithShape="1">
            <a:gsLst>
              <a:gs pos="50000">
                <a:srgbClr val="233143"/>
              </a:gs>
              <a:gs pos="0">
                <a:srgbClr val="001F5C"/>
              </a:gs>
              <a:gs pos="100000">
                <a:srgbClr val="4C4726"/>
              </a:gs>
            </a:gsLst>
            <a:lin ang="15600000" scaled="0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88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FF684F1-2DF5-8905-788D-F17B9DC80C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044"/>
          <a:stretch>
            <a:fillRect/>
          </a:stretch>
        </p:blipFill>
        <p:spPr bwMode="auto">
          <a:xfrm>
            <a:off x="3670660" y="-67978"/>
            <a:ext cx="4850681" cy="1074931"/>
          </a:xfrm>
          <a:prstGeom prst="rect">
            <a:avLst/>
          </a:prstGeom>
          <a:noFill/>
          <a:effectLst>
            <a:reflection blurRad="6350" stA="50000" endA="300" endPos="5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678826-3369-A8DA-7BF3-636D6263B5AB}"/>
              </a:ext>
            </a:extLst>
          </p:cNvPr>
          <p:cNvSpPr/>
          <p:nvPr/>
        </p:nvSpPr>
        <p:spPr>
          <a:xfrm>
            <a:off x="3812573" y="1117661"/>
            <a:ext cx="4553141" cy="1427524"/>
          </a:xfrm>
          <a:prstGeom prst="roundRect">
            <a:avLst>
              <a:gd name="adj" fmla="val 6446"/>
            </a:avLst>
          </a:prstGeom>
          <a:ln w="57150">
            <a:solidFill>
              <a:srgbClr val="FFC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288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B01D96C-03DA-37B5-59AD-63535B51134C}"/>
              </a:ext>
            </a:extLst>
          </p:cNvPr>
          <p:cNvSpPr/>
          <p:nvPr/>
        </p:nvSpPr>
        <p:spPr>
          <a:xfrm>
            <a:off x="3812572" y="2655959"/>
            <a:ext cx="4555321" cy="1686175"/>
          </a:xfrm>
          <a:prstGeom prst="roundRect">
            <a:avLst>
              <a:gd name="adj" fmla="val 6446"/>
            </a:avLst>
          </a:prstGeom>
          <a:ln w="57150">
            <a:solidFill>
              <a:srgbClr val="FFC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288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9A61C6-6301-7FEB-508F-94C5BBE5BFE3}"/>
              </a:ext>
            </a:extLst>
          </p:cNvPr>
          <p:cNvSpPr/>
          <p:nvPr/>
        </p:nvSpPr>
        <p:spPr>
          <a:xfrm>
            <a:off x="3812573" y="4508189"/>
            <a:ext cx="4543021" cy="1804352"/>
          </a:xfrm>
          <a:prstGeom prst="roundRect">
            <a:avLst>
              <a:gd name="adj" fmla="val 6446"/>
            </a:avLst>
          </a:prstGeom>
          <a:ln w="57150">
            <a:solidFill>
              <a:srgbClr val="FFC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288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0679A583-3989-98B3-1D2D-F61331761D6A}"/>
              </a:ext>
            </a:extLst>
          </p:cNvPr>
          <p:cNvSpPr/>
          <p:nvPr/>
        </p:nvSpPr>
        <p:spPr>
          <a:xfrm>
            <a:off x="3812573" y="4401303"/>
            <a:ext cx="1269708" cy="185811"/>
          </a:xfrm>
          <a:prstGeom prst="roundRect">
            <a:avLst/>
          </a:prstGeom>
          <a:solidFill>
            <a:srgbClr val="FCCF4C"/>
          </a:solidFill>
          <a:ln>
            <a:solidFill>
              <a:srgbClr val="FCCF4C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Experiment Result</a:t>
            </a:r>
            <a:endParaRPr lang="en-SG" sz="1000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9E7CE5A-97E4-95C0-B0C1-A165B5D97A00}"/>
              </a:ext>
            </a:extLst>
          </p:cNvPr>
          <p:cNvSpPr/>
          <p:nvPr/>
        </p:nvSpPr>
        <p:spPr>
          <a:xfrm>
            <a:off x="3810393" y="2608163"/>
            <a:ext cx="1269708" cy="185811"/>
          </a:xfrm>
          <a:prstGeom prst="roundRect">
            <a:avLst/>
          </a:prstGeom>
          <a:solidFill>
            <a:srgbClr val="FCCF4C"/>
          </a:solidFill>
          <a:ln>
            <a:solidFill>
              <a:srgbClr val="FCCF4C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7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SG" sz="1057" b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Rectangle 17">
            <a:extLst>
              <a:ext uri="{FF2B5EF4-FFF2-40B4-BE49-F238E27FC236}">
                <a16:creationId xmlns:a16="http://schemas.microsoft.com/office/drawing/2014/main" id="{5E9A9045-8337-544A-6204-AFC8BA270F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661" y="1201106"/>
            <a:ext cx="2163026" cy="1345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4650" tIns="7325" rIns="14650" bIns="7325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➢ Lunar exploration has sparse targets, limited sensing, risky terrain, and weak communication.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➢ AOI-based search may miss evidence outside predefined regions.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➢ Existing planners can be redundant, greedy, or unsafe near hazards.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➢ We need coordinated exploration that balances discovery, coverage, and risk avoidance.</a:t>
            </a:r>
          </a:p>
        </p:txBody>
      </p:sp>
      <p:sp>
        <p:nvSpPr>
          <p:cNvPr id="42" name="Rectangle 18">
            <a:extLst>
              <a:ext uri="{FF2B5EF4-FFF2-40B4-BE49-F238E27FC236}">
                <a16:creationId xmlns:a16="http://schemas.microsoft.com/office/drawing/2014/main" id="{4B20AFF7-51C9-62C4-F1F7-948B14035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1680" y="2838631"/>
            <a:ext cx="1845402" cy="1345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4650" tIns="7325" rIns="14650" bIns="7325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Build GP-based </a:t>
            </a:r>
            <a:r>
              <a:rPr lang="en-US" sz="8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 belief</a:t>
            </a:r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8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belief</a:t>
            </a:r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maps.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Use </a:t>
            </a:r>
            <a:r>
              <a:rPr lang="en-US" sz="8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dual-domain coverage</a:t>
            </a:r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search both inside AOI and outside AOI.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Model each robot’s future motion as </a:t>
            </a:r>
            <a:r>
              <a:rPr lang="en-US" sz="8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 intent</a:t>
            </a:r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Fuse interest, risk, and intent into an augmented graph.</a:t>
            </a:r>
          </a:p>
          <a:p>
            <a:r>
              <a:rPr lang="en-US" sz="8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Use an attention-based RL policy to select safe and informative viewpoints.</a:t>
            </a:r>
          </a:p>
        </p:txBody>
      </p:sp>
      <p:sp>
        <p:nvSpPr>
          <p:cNvPr id="62" name="Rectangle 19">
            <a:extLst>
              <a:ext uri="{FF2B5EF4-FFF2-40B4-BE49-F238E27FC236}">
                <a16:creationId xmlns:a16="http://schemas.microsoft.com/office/drawing/2014/main" id="{EF74F442-A4C0-C8FA-A4A3-9922038A7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5412" y="4645079"/>
            <a:ext cx="2671364" cy="4764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4650" tIns="7325" rIns="14650" bIns="7325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SG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◇ Tested in simulated lunar environments with three rovers.</a:t>
            </a:r>
          </a:p>
          <a:p>
            <a:r>
              <a:rPr lang="en-SG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◇ Compared with SGA-RRT, Greedy-CAtNIPP, and Intent-CAtNIPP.</a:t>
            </a:r>
          </a:p>
          <a:p>
            <a:r>
              <a:rPr lang="en-SG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◇ Achieves lower final uncertainty Tr(Pf) under different budgets.</a:t>
            </a:r>
          </a:p>
          <a:p>
            <a:r>
              <a:rPr lang="en-SG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◇ Reduces redundant exploration through intent sharing.</a:t>
            </a:r>
          </a:p>
          <a:p>
            <a:r>
              <a:rPr lang="en-SG" sz="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◇ Shows better balance between evidence discovery and risk avoidance.</a:t>
            </a: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71BF4AFE-857A-B183-6E8F-B47F0205BA36}"/>
              </a:ext>
            </a:extLst>
          </p:cNvPr>
          <p:cNvSpPr txBox="1"/>
          <p:nvPr/>
        </p:nvSpPr>
        <p:spPr>
          <a:xfrm>
            <a:off x="7954339" y="-58869"/>
            <a:ext cx="602374" cy="19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" dirty="0">
                <a:solidFill>
                  <a:srgbClr val="002E74"/>
                </a:solidFill>
                <a:latin typeface="Arial" panose="020B0604020202020204" pitchFamily="34" charset="0"/>
              </a:rPr>
              <a:t>Made by Dr. Yuan Shenghai</a:t>
            </a:r>
            <a:endParaRPr lang="en-SG" sz="320" dirty="0">
              <a:solidFill>
                <a:srgbClr val="002E74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ADA5528-5AA3-2B3F-8FC9-31ED04CB77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301" y="1173008"/>
            <a:ext cx="2316781" cy="130457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87DFED2-DA9D-A3BE-8A2C-E2C545EF92F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75412" y="2879979"/>
            <a:ext cx="2580779" cy="1314212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5CBC1E03-222C-C96C-85B7-CAAE6F30199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75412" y="5148939"/>
            <a:ext cx="2341047" cy="112175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50FDB3E-FD32-05E6-10C8-4B636B6249BC}"/>
              </a:ext>
            </a:extLst>
          </p:cNvPr>
          <p:cNvSpPr/>
          <p:nvPr/>
        </p:nvSpPr>
        <p:spPr>
          <a:xfrm>
            <a:off x="3670660" y="-70562"/>
            <a:ext cx="4850681" cy="1146374"/>
          </a:xfrm>
          <a:prstGeom prst="rect">
            <a:avLst/>
          </a:prstGeom>
          <a:solidFill>
            <a:schemeClr val="dk1">
              <a:alpha val="64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88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32F4A5-34A7-38C5-5BAB-A12AAECB1A8C}"/>
              </a:ext>
            </a:extLst>
          </p:cNvPr>
          <p:cNvSpPr txBox="1"/>
          <p:nvPr/>
        </p:nvSpPr>
        <p:spPr>
          <a:xfrm>
            <a:off x="3761031" y="44721"/>
            <a:ext cx="4684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Arial" panose="020B0604020202020204" pitchFamily="34" charset="0"/>
              </a:rPr>
              <a:t>Multi-Agent Off-World Exploration for Sparse Evidence Discovery Via Gaussian Belief Mapping and Dual-Domain Coverage</a:t>
            </a:r>
            <a:endParaRPr lang="en-SG" sz="11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9460C7E-E484-AD02-32C2-C206777585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0054" y="-25209"/>
            <a:ext cx="260989" cy="483471"/>
          </a:xfrm>
          <a:prstGeom prst="rect">
            <a:avLst/>
          </a:prstGeom>
        </p:spPr>
      </p:pic>
      <p:sp>
        <p:nvSpPr>
          <p:cNvPr id="13" name="TextBox 32">
            <a:extLst>
              <a:ext uri="{FF2B5EF4-FFF2-40B4-BE49-F238E27FC236}">
                <a16:creationId xmlns:a16="http://schemas.microsoft.com/office/drawing/2014/main" id="{C974856C-01C7-3770-5A44-CC2F4BF11AC7}"/>
              </a:ext>
            </a:extLst>
          </p:cNvPr>
          <p:cNvSpPr txBox="1"/>
          <p:nvPr/>
        </p:nvSpPr>
        <p:spPr>
          <a:xfrm>
            <a:off x="4356578" y="619872"/>
            <a:ext cx="34788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800" b="1" dirty="0">
                <a:solidFill>
                  <a:schemeClr val="bg1"/>
                </a:solidFill>
                <a:latin typeface="Arial" panose="020B0604020202020204" pitchFamily="34" charset="0"/>
              </a:rPr>
              <a:t>Nanyang Technological University</a:t>
            </a:r>
          </a:p>
          <a:p>
            <a:pPr algn="ctr"/>
            <a:r>
              <a:rPr lang="en-US" altLang="zh-CN" sz="800" b="1" dirty="0">
                <a:solidFill>
                  <a:schemeClr val="bg1"/>
                </a:solidFill>
                <a:latin typeface="Arial" panose="020B0604020202020204" pitchFamily="34" charset="0"/>
              </a:rPr>
              <a:t>National University o</a:t>
            </a:r>
            <a:r>
              <a:rPr lang="en-SG" altLang="zh-CN" sz="800" b="1" dirty="0">
                <a:solidFill>
                  <a:schemeClr val="bg1"/>
                </a:solidFill>
                <a:latin typeface="Arial" panose="020B0604020202020204" pitchFamily="34" charset="0"/>
              </a:rPr>
              <a:t>f</a:t>
            </a:r>
            <a:r>
              <a:rPr lang="zh-CN" altLang="en-US" sz="800" b="1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en-SG" altLang="zh-CN" sz="800" b="1" dirty="0">
                <a:solidFill>
                  <a:schemeClr val="bg1"/>
                </a:solidFill>
                <a:latin typeface="Arial" panose="020B0604020202020204" pitchFamily="34" charset="0"/>
              </a:rPr>
              <a:t>Singapore</a:t>
            </a:r>
          </a:p>
          <a:p>
            <a:pPr algn="ctr"/>
            <a:r>
              <a:rPr lang="en-SG" altLang="zh-CN" sz="800" b="1" dirty="0">
                <a:solidFill>
                  <a:schemeClr val="bg1"/>
                </a:solidFill>
                <a:latin typeface="Arial" panose="020B0604020202020204" pitchFamily="34" charset="0"/>
              </a:rPr>
              <a:t> </a:t>
            </a:r>
            <a:r>
              <a:rPr lang="en-SG" sz="800" b="1" dirty="0">
                <a:solidFill>
                  <a:schemeClr val="bg1"/>
                </a:solidFill>
                <a:latin typeface="Arial" panose="020B0604020202020204" pitchFamily="34" charset="0"/>
              </a:rPr>
              <a:t>Queensland University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B20D178-486E-A411-E284-E699938BB9CF}"/>
              </a:ext>
            </a:extLst>
          </p:cNvPr>
          <p:cNvGrpSpPr/>
          <p:nvPr/>
        </p:nvGrpSpPr>
        <p:grpSpPr>
          <a:xfrm>
            <a:off x="3715160" y="584471"/>
            <a:ext cx="665644" cy="369580"/>
            <a:chOff x="872019" y="4908568"/>
            <a:chExt cx="5213794" cy="2206155"/>
          </a:xfrm>
        </p:grpSpPr>
        <p:pic>
          <p:nvPicPr>
            <p:cNvPr id="20" name="Picture 2" descr="IROS">
              <a:extLst>
                <a:ext uri="{FF2B5EF4-FFF2-40B4-BE49-F238E27FC236}">
                  <a16:creationId xmlns:a16="http://schemas.microsoft.com/office/drawing/2014/main" id="{6AB4FE41-C30C-44C9-A16E-730496CE00E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062"/>
            <a:stretch>
              <a:fillRect/>
            </a:stretch>
          </p:blipFill>
          <p:spPr bwMode="auto">
            <a:xfrm>
              <a:off x="934148" y="4908568"/>
              <a:ext cx="5089533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1824DB-F7E4-B4D6-FD06-E99D14640B30}"/>
                </a:ext>
              </a:extLst>
            </p:cNvPr>
            <p:cNvSpPr txBox="1"/>
            <p:nvPr/>
          </p:nvSpPr>
          <p:spPr>
            <a:xfrm>
              <a:off x="872019" y="6210652"/>
              <a:ext cx="5213794" cy="9040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SG" sz="384" dirty="0">
                  <a:solidFill>
                    <a:schemeClr val="bg1"/>
                  </a:solidFill>
                  <a:latin typeface="Cooper Black" panose="0208090404030B020404" pitchFamily="18" charset="0"/>
                </a:rPr>
                <a:t>Contributed paper </a:t>
              </a:r>
              <a:endParaRPr lang="en-SG" sz="384" dirty="0">
                <a:latin typeface="Cooper Black" panose="0208090404030B020404" pitchFamily="18" charset="0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65A939F-0D34-5D93-7FF7-389764C6CB5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EFDFD"/>
              </a:clrFrom>
              <a:clrTo>
                <a:srgbClr val="FEFDFD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2481" t="-1" b="10979"/>
          <a:stretch>
            <a:fillRect/>
          </a:stretch>
        </p:blipFill>
        <p:spPr>
          <a:xfrm>
            <a:off x="7971929" y="466636"/>
            <a:ext cx="481902" cy="554018"/>
          </a:xfrm>
          <a:prstGeom prst="rect">
            <a:avLst/>
          </a:prstGeom>
          <a:effectLst>
            <a:glow rad="127000">
              <a:schemeClr val="bg1"/>
            </a:glow>
          </a:effectLst>
        </p:spPr>
      </p:pic>
      <p:pic>
        <p:nvPicPr>
          <p:cNvPr id="33" name="Picture 8" descr="Nanyang Technological University - NTU Singapore">
            <a:extLst>
              <a:ext uri="{FF2B5EF4-FFF2-40B4-BE49-F238E27FC236}">
                <a16:creationId xmlns:a16="http://schemas.microsoft.com/office/drawing/2014/main" id="{CE2DB551-5F0C-2824-4ECD-390D7CB552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30" t="24119" r="19550" b="24236"/>
          <a:stretch/>
        </p:blipFill>
        <p:spPr bwMode="auto">
          <a:xfrm>
            <a:off x="4738463" y="6400621"/>
            <a:ext cx="1133359" cy="401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IEEE / RSJ International Conference on Intelligent Robots &amp; Systems - IROS  | Pittsburgh PA">
            <a:extLst>
              <a:ext uri="{FF2B5EF4-FFF2-40B4-BE49-F238E27FC236}">
                <a16:creationId xmlns:a16="http://schemas.microsoft.com/office/drawing/2014/main" id="{44B536D4-5400-AEC8-A0A2-7055D434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6407" y="6218918"/>
            <a:ext cx="728429" cy="728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2321390-B071-CC14-8ED7-3FFCFDA996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6320" y="6375804"/>
            <a:ext cx="1495212" cy="432732"/>
          </a:xfrm>
          <a:prstGeom prst="rect">
            <a:avLst/>
          </a:prstGeom>
        </p:spPr>
      </p:pic>
      <p:pic>
        <p:nvPicPr>
          <p:cNvPr id="39" name="Picture 8" descr="NUS Identity - Logo Colour and Background">
            <a:extLst>
              <a:ext uri="{FF2B5EF4-FFF2-40B4-BE49-F238E27FC236}">
                <a16:creationId xmlns:a16="http://schemas.microsoft.com/office/drawing/2014/main" id="{F95D76C4-03B8-2C14-0487-9E5DDF610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2351" y="6254315"/>
            <a:ext cx="1160931" cy="720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BF7E943-3BF9-7B27-39B3-163175B3B74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8372" y="4637325"/>
            <a:ext cx="1909030" cy="14567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56BEDBB-541F-3236-663B-DF74C8E18FE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0741" y="6062755"/>
            <a:ext cx="406024" cy="239354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A4ABACC8-BD48-15FC-314E-05B2EA6CF337}"/>
              </a:ext>
            </a:extLst>
          </p:cNvPr>
          <p:cNvSpPr txBox="1"/>
          <p:nvPr/>
        </p:nvSpPr>
        <p:spPr>
          <a:xfrm>
            <a:off x="6390086" y="6092844"/>
            <a:ext cx="43487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400" b="1" i="1" dirty="0">
                <a:solidFill>
                  <a:srgbClr val="D4870E"/>
                </a:solidFill>
                <a:effectLst/>
                <a:latin typeface="Snell Roundhand" panose="02000603080000090004" pitchFamily="2" charset="0"/>
                <a:cs typeface="Arial Narrow" panose="020B0604020202020204" pitchFamily="34" charset="0"/>
              </a:rPr>
              <a:t>I'll take you to the moon! </a:t>
            </a:r>
            <a:endParaRPr lang="zh-CN" altLang="en-US" sz="1400" b="1" i="1" dirty="0">
              <a:solidFill>
                <a:srgbClr val="D4870E"/>
              </a:solidFill>
              <a:latin typeface="Snell Roundhand" panose="02000603080000090004" pitchFamily="2" charset="0"/>
              <a:cs typeface="Arial Narrow" panose="020B0604020202020204" pitchFamily="34" charset="0"/>
            </a:endParaRPr>
          </a:p>
        </p:txBody>
      </p:sp>
      <p:sp>
        <p:nvSpPr>
          <p:cNvPr id="10" name="TextBox 31">
            <a:extLst>
              <a:ext uri="{FF2B5EF4-FFF2-40B4-BE49-F238E27FC236}">
                <a16:creationId xmlns:a16="http://schemas.microsoft.com/office/drawing/2014/main" id="{A3A0FAE2-1FD7-4158-CE22-A84C898DABC8}"/>
              </a:ext>
            </a:extLst>
          </p:cNvPr>
          <p:cNvSpPr txBox="1"/>
          <p:nvPr/>
        </p:nvSpPr>
        <p:spPr>
          <a:xfrm>
            <a:off x="3979563" y="416189"/>
            <a:ext cx="4209040" cy="240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961" dirty="0">
                <a:solidFill>
                  <a:schemeClr val="bg1"/>
                </a:solidFill>
              </a:rPr>
              <a:t>Zhuoran Qiao</a:t>
            </a:r>
            <a:r>
              <a:rPr lang="en-SG" sz="961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ꭞ</a:t>
            </a:r>
            <a:r>
              <a:rPr lang="en-SG" sz="961" dirty="0">
                <a:solidFill>
                  <a:schemeClr val="bg1"/>
                </a:solidFill>
              </a:rPr>
              <a:t>, Tianxin Hu</a:t>
            </a:r>
            <a:r>
              <a:rPr lang="en-SG" sz="961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ꭞ</a:t>
            </a:r>
            <a:r>
              <a:rPr lang="en-SG" sz="961" dirty="0">
                <a:solidFill>
                  <a:schemeClr val="bg1"/>
                </a:solidFill>
              </a:rPr>
              <a:t>, Thien-Minh Nguyen, Shenghai Yuan</a:t>
            </a:r>
            <a:r>
              <a:rPr lang="en-SG" sz="961" baseline="30000" dirty="0">
                <a:solidFill>
                  <a:schemeClr val="bg1"/>
                </a:solidFill>
              </a:rPr>
              <a:t>* </a:t>
            </a:r>
            <a:endParaRPr lang="en-SG" sz="2659" i="1" baseline="30000" dirty="0">
              <a:solidFill>
                <a:schemeClr val="bg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014FE16-2451-7CA7-C6B1-A24038AC0C4D}"/>
              </a:ext>
            </a:extLst>
          </p:cNvPr>
          <p:cNvSpPr/>
          <p:nvPr/>
        </p:nvSpPr>
        <p:spPr>
          <a:xfrm>
            <a:off x="3812573" y="1039716"/>
            <a:ext cx="1269708" cy="185811"/>
          </a:xfrm>
          <a:prstGeom prst="roundRect">
            <a:avLst/>
          </a:prstGeom>
          <a:solidFill>
            <a:srgbClr val="FCCF4C"/>
          </a:solidFill>
          <a:ln>
            <a:solidFill>
              <a:srgbClr val="FCCF4C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SG" sz="1057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Motivations</a:t>
            </a:r>
          </a:p>
        </p:txBody>
      </p:sp>
    </p:spTree>
    <p:extLst>
      <p:ext uri="{BB962C8B-B14F-4D97-AF65-F5344CB8AC3E}">
        <p14:creationId xmlns:p14="http://schemas.microsoft.com/office/powerpoint/2010/main" val="958982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225</Words>
  <Application>Microsoft Macintosh PowerPoint</Application>
  <PresentationFormat>宽屏</PresentationFormat>
  <Paragraphs>26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等线 Light</vt:lpstr>
      <vt:lpstr>Arial</vt:lpstr>
      <vt:lpstr>Cooper Black</vt:lpstr>
      <vt:lpstr>Snell Roundhand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Robbert Tu</dc:creator>
  <cp:lastModifiedBy>Robbert Tu</cp:lastModifiedBy>
  <cp:revision>3</cp:revision>
  <dcterms:created xsi:type="dcterms:W3CDTF">2026-06-28T05:40:58Z</dcterms:created>
  <dcterms:modified xsi:type="dcterms:W3CDTF">2026-06-28T06:02:06Z</dcterms:modified>
</cp:coreProperties>
</file>