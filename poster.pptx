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58" r:id="rId3"/>
    <p:sldId id="260" r:id="rId4"/>
    <p:sldId id="256" r:id="rId5"/>
    <p:sldId id="257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5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26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2026/2/21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oongli@ieee.org" TargetMode="External"/><Relationship Id="rId5" Type="http://schemas.openxmlformats.org/officeDocument/2006/relationships/hyperlink" Target="mailto:syuan003@e.ntu.edu.sg" TargetMode="Externa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oongli@ieee.org" TargetMode="External"/><Relationship Id="rId5" Type="http://schemas.openxmlformats.org/officeDocument/2006/relationships/hyperlink" Target="mailto:syuan003@e.ntu.edu.sg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7" Type="http://schemas.openxmlformats.org/officeDocument/2006/relationships/hyperlink" Target="mailto:doongli@ieee.or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syuan003@e.ntu.edu.sg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7" Type="http://schemas.openxmlformats.org/officeDocument/2006/relationships/hyperlink" Target="mailto:doongli@ieee.org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syuan003@e.ntu.edu.sg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16CD81-DFB4-D444-219F-FAAC8ABE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97095F31-3498-A3ED-678E-C72124E00262}"/>
              </a:ext>
            </a:extLst>
          </p:cNvPr>
          <p:cNvSpPr/>
          <p:nvPr/>
        </p:nvSpPr>
        <p:spPr>
          <a:xfrm>
            <a:off x="0" y="-144260"/>
            <a:ext cx="12192000" cy="6115987"/>
          </a:xfrm>
          <a:prstGeom prst="rect">
            <a:avLst/>
          </a:prstGeom>
          <a:blipFill dpi="0" rotWithShape="1">
            <a:blip r:embed="rId2">
              <a:alphaModFix amt="2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0C67F3-8420-E1FE-6C3E-68A74551D06F}"/>
              </a:ext>
            </a:extLst>
          </p:cNvPr>
          <p:cNvSpPr/>
          <p:nvPr/>
        </p:nvSpPr>
        <p:spPr>
          <a:xfrm>
            <a:off x="0" y="5971727"/>
            <a:ext cx="12192000" cy="88627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D1BB525-E877-2410-B412-E261AFA539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382" y="392512"/>
            <a:ext cx="2574165" cy="167253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1808124-7E7A-7046-FFB8-235D28953211}"/>
              </a:ext>
            </a:extLst>
          </p:cNvPr>
          <p:cNvSpPr txBox="1"/>
          <p:nvPr/>
        </p:nvSpPr>
        <p:spPr>
          <a:xfrm>
            <a:off x="-4292" y="210124"/>
            <a:ext cx="67018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i="1" dirty="0">
                <a:latin typeface="Arial" panose="020B0604020202020204" pitchFamily="34" charset="0"/>
                <a:cs typeface="Arial" panose="020B0604020202020204" pitchFamily="34" charset="0"/>
              </a:rPr>
              <a:t>First</a:t>
            </a:r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 Special Session on</a:t>
            </a:r>
          </a:p>
          <a:p>
            <a:pPr algn="ctr"/>
            <a:r>
              <a:rPr lang="zh-CN" altLang="en-US" sz="3200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Robotics in Space Exploration</a:t>
            </a:r>
            <a:endParaRPr lang="en-US" altLang="zh-CN" sz="3200" b="1" dirty="0">
              <a:solidFill>
                <a:srgbClr val="FDC5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——IROS2026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45EACB0-7E06-D891-FB2D-3B02FB19F2F4}"/>
              </a:ext>
            </a:extLst>
          </p:cNvPr>
          <p:cNvSpPr txBox="1"/>
          <p:nvPr/>
        </p:nvSpPr>
        <p:spPr>
          <a:xfrm>
            <a:off x="6697552" y="2322921"/>
            <a:ext cx="54944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IEEE/RSJ International Conference on Intelligent Robots and Systems (IROS) 2026</a:t>
            </a:r>
            <a:endParaRPr lang="zh-CN" alt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92DE8E-D86B-6E57-598B-D0562AD883A6}"/>
              </a:ext>
            </a:extLst>
          </p:cNvPr>
          <p:cNvSpPr txBox="1"/>
          <p:nvPr/>
        </p:nvSpPr>
        <p:spPr>
          <a:xfrm>
            <a:off x="6923361" y="3115186"/>
            <a:ext cx="51241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 fontAlgn="base"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SEPTEMBER 27 - OCTOBER 1, 2026</a:t>
            </a:r>
            <a:endParaRPr lang="en-US" altLang="zh-CN" sz="2000" b="0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 fontAlgn="base"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PITTSBURGH, PA, USA</a:t>
            </a:r>
            <a:endParaRPr lang="en-US" altLang="zh-CN" sz="2000" b="0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10BF158C-EC3B-28FC-DD36-822FDFD60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5452" y="210124"/>
            <a:ext cx="2423051" cy="737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B99B9AC-D033-FEFA-18C9-C9ED8DCFADB4}"/>
              </a:ext>
            </a:extLst>
          </p:cNvPr>
          <p:cNvSpPr txBox="1"/>
          <p:nvPr/>
        </p:nvSpPr>
        <p:spPr>
          <a:xfrm>
            <a:off x="6882685" y="4207260"/>
            <a:ext cx="512418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Submission Deadline: </a:t>
            </a:r>
            <a:r>
              <a:rPr lang="en-US" altLang="zh-CN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March 2, 2026 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Notification of Paper Acceptance: </a:t>
            </a:r>
            <a:r>
              <a:rPr lang="en-US" altLang="zh-CN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June 16, 2026</a:t>
            </a:r>
          </a:p>
          <a:p>
            <a:endParaRPr lang="en-US" altLang="zh-CN" b="1" i="0" dirty="0">
              <a:solidFill>
                <a:srgbClr val="FDC5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Submision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ode: </a:t>
            </a:r>
            <a:r>
              <a:rPr lang="en-US" altLang="zh-CN" sz="2800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r4up3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7299C22-57BC-A597-BE3C-9844126D73F8}"/>
              </a:ext>
            </a:extLst>
          </p:cNvPr>
          <p:cNvSpPr txBox="1"/>
          <p:nvPr/>
        </p:nvSpPr>
        <p:spPr>
          <a:xfrm>
            <a:off x="6949493" y="6257445"/>
            <a:ext cx="5379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Inquiries: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syuan003@e.ntu.edu.sg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doongli@ieee.org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7EA2991-6478-BE77-5417-7194851BB72F}"/>
              </a:ext>
            </a:extLst>
          </p:cNvPr>
          <p:cNvSpPr txBox="1"/>
          <p:nvPr/>
        </p:nvSpPr>
        <p:spPr>
          <a:xfrm>
            <a:off x="396886" y="2028616"/>
            <a:ext cx="549444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Call for Papers</a:t>
            </a:r>
            <a:r>
              <a:rPr lang="zh-CN" altLang="en-US" sz="3200" b="1" dirty="0"/>
              <a:t>📢</a:t>
            </a:r>
            <a:r>
              <a:rPr lang="zh-CN" altLang="en-US" b="1" i="1" dirty="0"/>
              <a:t> </a:t>
            </a:r>
            <a:endParaRPr lang="en-US" altLang="zh-CN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Mechanical Design of Robots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Autonomous Mobile Platform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Perception and Motion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Task-specific Autonomy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Robot Simulation Environments</a:t>
            </a:r>
          </a:p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for Space Exploration</a:t>
            </a:r>
            <a:endParaRPr lang="zh-CN" alt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D50C377-8F2E-067C-99E0-1E038A63AAEC}"/>
              </a:ext>
            </a:extLst>
          </p:cNvPr>
          <p:cNvSpPr txBox="1"/>
          <p:nvPr/>
        </p:nvSpPr>
        <p:spPr>
          <a:xfrm>
            <a:off x="-1" y="5971727"/>
            <a:ext cx="121919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Organizers</a:t>
            </a:r>
            <a:r>
              <a:rPr lang="en-US" altLang="zh-CN" sz="1600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Shenghai Yuan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(NTU),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Dong Li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(MUST&amp;CASIA),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Muqing Cao 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(CMU),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Yuchen Li 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(TUM),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Chen 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(CASIA)</a:t>
            </a:r>
            <a:endParaRPr lang="zh-CN" altLang="en-US" sz="1600" dirty="0">
              <a:solidFill>
                <a:srgbClr val="FDC5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92E0115-4A4E-4130-655C-1C7AFFEA9061}"/>
              </a:ext>
            </a:extLst>
          </p:cNvPr>
          <p:cNvSpPr txBox="1"/>
          <p:nvPr/>
        </p:nvSpPr>
        <p:spPr>
          <a:xfrm>
            <a:off x="0" y="6531589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Special Session papers follow the </a:t>
            </a:r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</a:t>
            </a: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submission, review, acceptance, and publication process as regular conference papers.</a:t>
            </a:r>
          </a:p>
        </p:txBody>
      </p:sp>
      <p:sp>
        <p:nvSpPr>
          <p:cNvPr id="19" name="AutoShape 2" descr="Ieee Ras Kickoff Meeting - Ras Ieee, HD Png Download - 842x483(#5418707) -  PngFind">
            <a:extLst>
              <a:ext uri="{FF2B5EF4-FFF2-40B4-BE49-F238E27FC236}">
                <a16:creationId xmlns:a16="http://schemas.microsoft.com/office/drawing/2014/main" id="{40C41AD1-B4F1-FFEC-F995-F829049B7A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01BB73C-691F-9224-F5D2-34D31D02D10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736" y="1104218"/>
            <a:ext cx="2457074" cy="90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30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6AC3FD7B-C7CD-141A-9F59-8EB0E20B3ACF}"/>
              </a:ext>
            </a:extLst>
          </p:cNvPr>
          <p:cNvSpPr/>
          <p:nvPr/>
        </p:nvSpPr>
        <p:spPr>
          <a:xfrm>
            <a:off x="0" y="-144260"/>
            <a:ext cx="12192000" cy="6115987"/>
          </a:xfrm>
          <a:prstGeom prst="rect">
            <a:avLst/>
          </a:prstGeom>
          <a:blipFill dpi="0" rotWithShape="1">
            <a:blip r:embed="rId2">
              <a:alphaModFix amt="2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0CF26C9-62C4-7156-1D4F-AB61461A1B03}"/>
              </a:ext>
            </a:extLst>
          </p:cNvPr>
          <p:cNvSpPr/>
          <p:nvPr/>
        </p:nvSpPr>
        <p:spPr>
          <a:xfrm>
            <a:off x="0" y="5971727"/>
            <a:ext cx="12192000" cy="88627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F6610FF-B8D6-1284-5A3C-9BE79AAAAD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382" y="203759"/>
            <a:ext cx="2574165" cy="167253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F231860-BA77-3637-DF6A-73B73B72E633}"/>
              </a:ext>
            </a:extLst>
          </p:cNvPr>
          <p:cNvSpPr txBox="1"/>
          <p:nvPr/>
        </p:nvSpPr>
        <p:spPr>
          <a:xfrm>
            <a:off x="-4292" y="210124"/>
            <a:ext cx="67018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Special Session on</a:t>
            </a:r>
          </a:p>
          <a:p>
            <a:pPr algn="ctr"/>
            <a:r>
              <a:rPr lang="zh-CN" altLang="en-US" sz="3200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Robotics in Space Exploration</a:t>
            </a:r>
            <a:endParaRPr lang="en-US" altLang="zh-CN" sz="3200" b="1" dirty="0">
              <a:solidFill>
                <a:srgbClr val="FDC5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@IROS2026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666B8C4-D0BD-E51E-3A38-3DD1B2BA4878}"/>
              </a:ext>
            </a:extLst>
          </p:cNvPr>
          <p:cNvSpPr txBox="1"/>
          <p:nvPr/>
        </p:nvSpPr>
        <p:spPr>
          <a:xfrm>
            <a:off x="6697552" y="2134168"/>
            <a:ext cx="54944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IEEE/RSJ International Conference on Intelligent Robots and Systems (IROS) 2026</a:t>
            </a:r>
            <a:endParaRPr lang="zh-CN" alt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742838-41FE-58E2-799B-0C77F7FBDE0D}"/>
              </a:ext>
            </a:extLst>
          </p:cNvPr>
          <p:cNvSpPr txBox="1"/>
          <p:nvPr/>
        </p:nvSpPr>
        <p:spPr>
          <a:xfrm>
            <a:off x="6923361" y="2926433"/>
            <a:ext cx="512418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 fontAlgn="base"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SEPTEMBER 27 - OCTOBER 1, 2026</a:t>
            </a:r>
            <a:endParaRPr lang="en-US" altLang="zh-CN" sz="2000" b="0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 fontAlgn="base"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PITTSBURGH, PA, USA</a:t>
            </a:r>
            <a:endParaRPr lang="en-US" altLang="zh-CN" sz="2000" b="0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848BC4D-CF04-033C-73AD-A3D1C59B19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5452" y="21371"/>
            <a:ext cx="2423051" cy="737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7083C57-B5BC-6A49-FF24-264C4BE97A38}"/>
              </a:ext>
            </a:extLst>
          </p:cNvPr>
          <p:cNvSpPr txBox="1"/>
          <p:nvPr/>
        </p:nvSpPr>
        <p:spPr>
          <a:xfrm>
            <a:off x="6882685" y="4018507"/>
            <a:ext cx="512418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Submission Deadline: </a:t>
            </a:r>
            <a:r>
              <a:rPr lang="en-US" altLang="zh-CN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March 2, 2026 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Notification of Paper Acceptance: </a:t>
            </a:r>
            <a:r>
              <a:rPr lang="en-US" altLang="zh-CN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June 16, 2026</a:t>
            </a:r>
          </a:p>
          <a:p>
            <a:endParaRPr lang="en-US" altLang="zh-CN" b="1" i="0" dirty="0">
              <a:solidFill>
                <a:srgbClr val="FDC5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Submision </a:t>
            </a:r>
            <a:r>
              <a:rPr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ode: </a:t>
            </a:r>
            <a:r>
              <a:rPr lang="zh-CN" altLang="en-US" sz="2800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69h69</a:t>
            </a:r>
            <a:endParaRPr lang="en-US" altLang="zh-CN" sz="2800" b="1" dirty="0">
              <a:solidFill>
                <a:srgbClr val="FDC5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54819C-4208-CF64-1635-1467354BF7E0}"/>
              </a:ext>
            </a:extLst>
          </p:cNvPr>
          <p:cNvSpPr txBox="1"/>
          <p:nvPr/>
        </p:nvSpPr>
        <p:spPr>
          <a:xfrm>
            <a:off x="6949493" y="6257445"/>
            <a:ext cx="5379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Inquiries: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syuan003@e.ntu.edu.sg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doongli@ieee.org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F70AFFE-0D84-7A80-1E2B-DBFEA2FE289B}"/>
              </a:ext>
            </a:extLst>
          </p:cNvPr>
          <p:cNvSpPr txBox="1"/>
          <p:nvPr/>
        </p:nvSpPr>
        <p:spPr>
          <a:xfrm>
            <a:off x="244646" y="2060033"/>
            <a:ext cx="6048239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Call for Papers</a:t>
            </a:r>
            <a:r>
              <a:rPr lang="zh-CN" altLang="en-US" sz="3200" b="1" dirty="0"/>
              <a:t>📢</a:t>
            </a:r>
            <a:r>
              <a:rPr lang="zh-CN" altLang="en-US" b="1" i="1" dirty="0"/>
              <a:t> </a:t>
            </a:r>
            <a:endParaRPr lang="en-US" altLang="zh-CN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Autonomous Mobile Platform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Perception and Motion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Multi-robot Exploration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Task-specific Autonomy</a:t>
            </a:r>
          </a:p>
          <a:p>
            <a:r>
              <a:rPr lang="en-US" altLang="zh-CN" sz="2400" i="1" dirty="0">
                <a:latin typeface="Arial" panose="020B0604020202020204" pitchFamily="34" charset="0"/>
                <a:cs typeface="Arial" panose="020B0604020202020204" pitchFamily="34" charset="0"/>
              </a:rPr>
              <a:t>for Space Exploration </a:t>
            </a:r>
            <a:endParaRPr lang="zh-CN" alt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25F803D-26E0-7B50-CB16-D4265B45D47D}"/>
              </a:ext>
            </a:extLst>
          </p:cNvPr>
          <p:cNvSpPr txBox="1"/>
          <p:nvPr/>
        </p:nvSpPr>
        <p:spPr>
          <a:xfrm>
            <a:off x="0" y="5971727"/>
            <a:ext cx="113205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Organizers</a:t>
            </a:r>
            <a:r>
              <a:rPr lang="en-US" altLang="zh-CN" sz="1600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Shenghai Yuan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(NTU)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Dong Li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(MUST&amp;CASIA)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Muqing Cao 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(CMU)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Yuchen Li 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(TUM)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Chen 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(CASIA)</a:t>
            </a:r>
            <a:endParaRPr lang="zh-CN" altLang="en-US" sz="1600" dirty="0">
              <a:solidFill>
                <a:srgbClr val="FDC5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0F1E92-48AF-CD23-E24C-838B00E1C3AA}"/>
              </a:ext>
            </a:extLst>
          </p:cNvPr>
          <p:cNvSpPr txBox="1"/>
          <p:nvPr/>
        </p:nvSpPr>
        <p:spPr>
          <a:xfrm>
            <a:off x="0" y="6531589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Special Session papers follow the </a:t>
            </a:r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</a:t>
            </a: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submission, review, acceptance, and publication process as regular conference papers.</a:t>
            </a:r>
          </a:p>
        </p:txBody>
      </p:sp>
      <p:sp>
        <p:nvSpPr>
          <p:cNvPr id="19" name="AutoShape 2" descr="Ieee Ras Kickoff Meeting - Ras Ieee, HD Png Download - 842x483(#5418707) -  PngFind">
            <a:extLst>
              <a:ext uri="{FF2B5EF4-FFF2-40B4-BE49-F238E27FC236}">
                <a16:creationId xmlns:a16="http://schemas.microsoft.com/office/drawing/2014/main" id="{30BA61C8-E56C-83E0-745A-E66A0E0D928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D1CE66-9A4C-F5A2-969F-11FD70DC298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736" y="915465"/>
            <a:ext cx="2457074" cy="905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033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67F81-5A17-C256-9E1F-4FBDD8E16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BDD05B7-2C61-3667-6952-C164462AFB20}"/>
              </a:ext>
            </a:extLst>
          </p:cNvPr>
          <p:cNvSpPr/>
          <p:nvPr/>
        </p:nvSpPr>
        <p:spPr>
          <a:xfrm>
            <a:off x="0" y="-144260"/>
            <a:ext cx="12192000" cy="6115987"/>
          </a:xfrm>
          <a:prstGeom prst="rect">
            <a:avLst/>
          </a:prstGeom>
          <a:blipFill dpi="0" rotWithShape="1">
            <a:blip r:embed="rId2">
              <a:alphaModFix amt="6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C1BB66-E299-6A82-5292-6562ECCE808A}"/>
              </a:ext>
            </a:extLst>
          </p:cNvPr>
          <p:cNvSpPr/>
          <p:nvPr/>
        </p:nvSpPr>
        <p:spPr>
          <a:xfrm>
            <a:off x="0" y="5971727"/>
            <a:ext cx="12192000" cy="88627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83DE04-C18E-04C7-5C5F-676409B15D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6381" y="650837"/>
            <a:ext cx="2574165" cy="167253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806E8C3-A2F3-8A1C-262F-B465C615E576}"/>
              </a:ext>
            </a:extLst>
          </p:cNvPr>
          <p:cNvSpPr txBox="1"/>
          <p:nvPr/>
        </p:nvSpPr>
        <p:spPr>
          <a:xfrm>
            <a:off x="22269" y="307398"/>
            <a:ext cx="670184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Special Session on</a:t>
            </a:r>
          </a:p>
          <a:p>
            <a:pPr algn="ctr"/>
            <a:r>
              <a:rPr lang="zh-CN" altLang="en-US" sz="3200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Robotics in Space Exploration</a:t>
            </a:r>
            <a:endParaRPr lang="en-US" altLang="zh-CN" sz="3200" b="1" dirty="0">
              <a:solidFill>
                <a:srgbClr val="FDC5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altLang="zh-CN" sz="3200" b="1" dirty="0">
                <a:latin typeface="Arial" panose="020B0604020202020204" pitchFamily="34" charset="0"/>
                <a:cs typeface="Arial" panose="020B0604020202020204" pitchFamily="34" charset="0"/>
              </a:rPr>
              <a:t>@IROS2026</a:t>
            </a:r>
            <a:endParaRPr lang="zh-CN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5F18CB-A28A-A0FD-19E7-56367C57AD8D}"/>
              </a:ext>
            </a:extLst>
          </p:cNvPr>
          <p:cNvSpPr txBox="1"/>
          <p:nvPr/>
        </p:nvSpPr>
        <p:spPr>
          <a:xfrm>
            <a:off x="6608204" y="2772542"/>
            <a:ext cx="54944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IEEE/RSJ International Conference on Intelligent Robots and Systems (IROS) 2026</a:t>
            </a:r>
            <a:endParaRPr lang="zh-CN" altLang="en-US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E0918F5-2590-0B93-1273-B1DD6215732F}"/>
              </a:ext>
            </a:extLst>
          </p:cNvPr>
          <p:cNvSpPr txBox="1"/>
          <p:nvPr/>
        </p:nvSpPr>
        <p:spPr>
          <a:xfrm>
            <a:off x="6816143" y="3649705"/>
            <a:ext cx="51241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SEPTEMBER 27 - OCTOBER 1, 2026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ctr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PITTSBURGH, PA, USA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F8588F16-2E71-305A-F29A-3B8B25B54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7273" y="558003"/>
            <a:ext cx="2423051" cy="737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IEEE Robotics and Automation Society Yarmouk University Student Chapter (RAS)  - IEEE Yarmouk University Student Branch">
            <a:extLst>
              <a:ext uri="{FF2B5EF4-FFF2-40B4-BE49-F238E27FC236}">
                <a16:creationId xmlns:a16="http://schemas.microsoft.com/office/drawing/2014/main" id="{E4503FCF-F386-9426-D1E8-A4B87BD954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865" y="1491227"/>
            <a:ext cx="2423051" cy="89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5ADE2AF7-3B52-6421-2220-E6348D839D48}"/>
              </a:ext>
            </a:extLst>
          </p:cNvPr>
          <p:cNvSpPr txBox="1"/>
          <p:nvPr/>
        </p:nvSpPr>
        <p:spPr>
          <a:xfrm>
            <a:off x="7067818" y="4634590"/>
            <a:ext cx="51241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Submission Deadline: </a:t>
            </a:r>
            <a:r>
              <a:rPr lang="en-US" altLang="zh-CN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March 2, 2026 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Notification of Paper Acceptance: </a:t>
            </a:r>
            <a:r>
              <a:rPr lang="en-US" altLang="zh-CN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June 16, 2026</a:t>
            </a:r>
            <a:endParaRPr lang="en-US" altLang="zh-CN" b="1" i="0" dirty="0">
              <a:solidFill>
                <a:srgbClr val="FDC526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Submision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ode: </a:t>
            </a:r>
            <a:r>
              <a:rPr lang="zh-CN" altLang="en-US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69h69</a:t>
            </a:r>
            <a:endParaRPr lang="en-US" altLang="zh-CN" b="1" dirty="0">
              <a:solidFill>
                <a:srgbClr val="FDC5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ED32ED7-C701-535A-DE74-B33ECCB90F7A}"/>
              </a:ext>
            </a:extLst>
          </p:cNvPr>
          <p:cNvSpPr txBox="1"/>
          <p:nvPr/>
        </p:nvSpPr>
        <p:spPr>
          <a:xfrm>
            <a:off x="6949493" y="6257445"/>
            <a:ext cx="5379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Inquiries: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syuan003@e.ntu.edu.sg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doongli@ieee.org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9EE27E5-39EB-9726-7E93-F5D82E605787}"/>
              </a:ext>
            </a:extLst>
          </p:cNvPr>
          <p:cNvSpPr txBox="1"/>
          <p:nvPr/>
        </p:nvSpPr>
        <p:spPr>
          <a:xfrm>
            <a:off x="244646" y="2060033"/>
            <a:ext cx="60482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Call for Papers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Autonomous Mobile Platform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Perception and Motion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Multi-robot exploration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Task-specific autonomy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for Space Exploration 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109F1B7-49BA-75A3-6B9A-7371A1A09298}"/>
              </a:ext>
            </a:extLst>
          </p:cNvPr>
          <p:cNvSpPr txBox="1"/>
          <p:nvPr/>
        </p:nvSpPr>
        <p:spPr>
          <a:xfrm>
            <a:off x="0" y="5971727"/>
            <a:ext cx="113205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Organizers</a:t>
            </a:r>
            <a:r>
              <a:rPr lang="en-US" altLang="zh-CN" sz="1600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Shenghai Yuan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(NTU)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Dong Li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(MUST&amp;CASIA)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Muqing Cao 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(CMU)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Yuchen Li 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(TUM) </a:t>
            </a:r>
            <a:r>
              <a:rPr lang="zh-CN" altLang="en-US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 Chen </a:t>
            </a:r>
            <a:r>
              <a:rPr lang="en-US" altLang="zh-CN" sz="1600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(CASIA)</a:t>
            </a:r>
            <a:endParaRPr lang="zh-CN" altLang="en-US" sz="1600" dirty="0">
              <a:solidFill>
                <a:srgbClr val="FDC52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1E779B1-5E9C-94F1-259C-71D8AD37F257}"/>
              </a:ext>
            </a:extLst>
          </p:cNvPr>
          <p:cNvSpPr txBox="1"/>
          <p:nvPr/>
        </p:nvSpPr>
        <p:spPr>
          <a:xfrm>
            <a:off x="0" y="6531589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Special Session papers follow the </a:t>
            </a:r>
            <a:r>
              <a:rPr lang="en-US" altLang="zh-CN" sz="1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same</a:t>
            </a: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submission, review, acceptance, and publication process as regular conference papers.</a:t>
            </a:r>
          </a:p>
        </p:txBody>
      </p:sp>
      <p:sp>
        <p:nvSpPr>
          <p:cNvPr id="19" name="AutoShape 2" descr="Ieee Ras Kickoff Meeting - Ras Ieee, HD Png Download - 842x483(#5418707) -  PngFind">
            <a:extLst>
              <a:ext uri="{FF2B5EF4-FFF2-40B4-BE49-F238E27FC236}">
                <a16:creationId xmlns:a16="http://schemas.microsoft.com/office/drawing/2014/main" id="{549E46BD-A38C-32A0-5242-D0B2CA9523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260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AF65C05-31C0-D847-1CA3-24A5EA118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596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196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>
            <a:extLst>
              <a:ext uri="{FF2B5EF4-FFF2-40B4-BE49-F238E27FC236}">
                <a16:creationId xmlns:a16="http://schemas.microsoft.com/office/drawing/2014/main" id="{F36FB7E9-8289-A425-141C-58AA76A93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08838"/>
            <a:ext cx="12192000" cy="6804837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34B4A266-4361-0A7B-0920-F6DD4F5AAB47}"/>
              </a:ext>
            </a:extLst>
          </p:cNvPr>
          <p:cNvSpPr/>
          <p:nvPr/>
        </p:nvSpPr>
        <p:spPr>
          <a:xfrm>
            <a:off x="0" y="6095999"/>
            <a:ext cx="12192000" cy="76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2423D9F-500F-D62A-0DF9-0A197A4091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923" y="117838"/>
            <a:ext cx="2574165" cy="167253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C30C0FEE-B091-A1D0-7F67-C6A6D18DE3E0}"/>
              </a:ext>
            </a:extLst>
          </p:cNvPr>
          <p:cNvSpPr txBox="1"/>
          <p:nvPr/>
        </p:nvSpPr>
        <p:spPr>
          <a:xfrm>
            <a:off x="0" y="61824"/>
            <a:ext cx="67018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FDC5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Robotics in Space Exploration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D20E25-C5E4-92E3-D169-C761FD675A6A}"/>
              </a:ext>
            </a:extLst>
          </p:cNvPr>
          <p:cNvSpPr txBox="1"/>
          <p:nvPr/>
        </p:nvSpPr>
        <p:spPr>
          <a:xfrm>
            <a:off x="6812923" y="2038800"/>
            <a:ext cx="54944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/>
              <a:t>IEEE/RSJ International Conference on Intelligent Robots and Systems (IROS) 2026</a:t>
            </a:r>
            <a:endParaRPr lang="zh-CN" altLang="en-US" sz="2000" b="1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12FAB82-A501-64C3-D1FA-22BFDF208006}"/>
              </a:ext>
            </a:extLst>
          </p:cNvPr>
          <p:cNvSpPr txBox="1"/>
          <p:nvPr/>
        </p:nvSpPr>
        <p:spPr>
          <a:xfrm>
            <a:off x="6812923" y="2853038"/>
            <a:ext cx="51241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Outfit"/>
              </a:rPr>
              <a:t>SEPTEMBER 27 - OCTOBER 1, 2026</a:t>
            </a:r>
            <a:endParaRPr lang="en-US" altLang="zh-CN" b="0" i="0" dirty="0">
              <a:solidFill>
                <a:srgbClr val="333333"/>
              </a:solidFill>
              <a:effectLst/>
              <a:latin typeface="Outfit"/>
            </a:endParaRPr>
          </a:p>
          <a:p>
            <a:pPr marL="285750" indent="-285750" algn="ctr" fontAlgn="base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Outfit"/>
              </a:rPr>
              <a:t>PITTSBURGH, PA, USA</a:t>
            </a:r>
            <a:endParaRPr lang="en-US" altLang="zh-CN" b="0" i="0" dirty="0">
              <a:solidFill>
                <a:srgbClr val="333333"/>
              </a:solidFill>
              <a:effectLst/>
              <a:latin typeface="Outfi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828BAFE-2AE1-DFDD-4F9E-F0D613AB4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2408" y="124628"/>
            <a:ext cx="2423051" cy="737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EEE Robotics and Automation Society Yarmouk University Student Chapter (RAS)  - IEEE Yarmouk University Student Branch">
            <a:extLst>
              <a:ext uri="{FF2B5EF4-FFF2-40B4-BE49-F238E27FC236}">
                <a16:creationId xmlns:a16="http://schemas.microsoft.com/office/drawing/2014/main" id="{25EB8EA0-6EFC-66A3-69A3-523CDB1F8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2407" y="958228"/>
            <a:ext cx="2423051" cy="89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907702B4-1DA4-06A7-D773-7086E2D517DB}"/>
              </a:ext>
            </a:extLst>
          </p:cNvPr>
          <p:cNvSpPr txBox="1"/>
          <p:nvPr/>
        </p:nvSpPr>
        <p:spPr>
          <a:xfrm>
            <a:off x="247649" y="3903077"/>
            <a:ext cx="47523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Submission Deadline: </a:t>
            </a:r>
            <a:r>
              <a:rPr lang="en-US" altLang="zh-CN" b="1" dirty="0">
                <a:solidFill>
                  <a:srgbClr val="FDC526"/>
                </a:solidFill>
                <a:latin typeface="Outfit"/>
              </a:rPr>
              <a:t>March 2, 2026 </a:t>
            </a:r>
          </a:p>
          <a:p>
            <a:r>
              <a:rPr lang="en-US" altLang="zh-CN" dirty="0"/>
              <a:t>Notification of Paper Acceptance: </a:t>
            </a:r>
            <a:r>
              <a:rPr lang="en-US" altLang="zh-CN" b="1" dirty="0">
                <a:solidFill>
                  <a:srgbClr val="FDC526"/>
                </a:solidFill>
                <a:latin typeface="Outfit"/>
              </a:rPr>
              <a:t>June 16, 2026</a:t>
            </a:r>
            <a:endParaRPr lang="en-US" altLang="zh-CN" b="1" i="0" dirty="0">
              <a:solidFill>
                <a:srgbClr val="FDC526"/>
              </a:solidFill>
              <a:effectLst/>
              <a:latin typeface="Outfit"/>
            </a:endParaRPr>
          </a:p>
          <a:p>
            <a:r>
              <a:rPr lang="zh-CN" altLang="en-US" dirty="0"/>
              <a:t>Submision </a:t>
            </a:r>
            <a:r>
              <a:rPr lang="en-US" altLang="zh-CN" dirty="0"/>
              <a:t>C</a:t>
            </a:r>
            <a:r>
              <a:rPr lang="zh-CN" altLang="en-US" dirty="0"/>
              <a:t>ode: </a:t>
            </a:r>
            <a:r>
              <a:rPr lang="zh-CN" altLang="en-US" b="1" dirty="0">
                <a:solidFill>
                  <a:srgbClr val="FDC526"/>
                </a:solidFill>
                <a:latin typeface="Outfit"/>
              </a:rPr>
              <a:t>69h69</a:t>
            </a:r>
            <a:endParaRPr lang="en-US" altLang="zh-CN" b="1" dirty="0">
              <a:solidFill>
                <a:srgbClr val="FDC526"/>
              </a:solidFill>
              <a:latin typeface="Outfit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832CAD0-1BE4-1D7A-7A1C-BA4D43D4ABD2}"/>
              </a:ext>
            </a:extLst>
          </p:cNvPr>
          <p:cNvSpPr txBox="1"/>
          <p:nvPr/>
        </p:nvSpPr>
        <p:spPr>
          <a:xfrm>
            <a:off x="6812922" y="6283045"/>
            <a:ext cx="53790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</a:rPr>
              <a:t>Inquiries: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syuan003@e.ntu.edu.sg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</a:rPr>
              <a:t> &amp; 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doongli@ieee.org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EBA6671-01A9-276C-FC39-005B2BE0B90B}"/>
              </a:ext>
            </a:extLst>
          </p:cNvPr>
          <p:cNvSpPr txBox="1"/>
          <p:nvPr/>
        </p:nvSpPr>
        <p:spPr>
          <a:xfrm>
            <a:off x="313923" y="1120676"/>
            <a:ext cx="52239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Call for Papers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Autonomous Mobile Platform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Perception and motion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Multi-robot exploration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Task-specific autonomy</a:t>
            </a:r>
          </a:p>
          <a:p>
            <a:r>
              <a:rPr lang="en-US" altLang="zh-CN" sz="2400" dirty="0"/>
              <a:t>for Space Exploration, </a:t>
            </a:r>
            <a:endParaRPr lang="zh-CN" altLang="en-US" sz="24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F77E85B-4392-7AB3-3EF5-EEA66999F00D}"/>
              </a:ext>
            </a:extLst>
          </p:cNvPr>
          <p:cNvSpPr txBox="1"/>
          <p:nvPr/>
        </p:nvSpPr>
        <p:spPr>
          <a:xfrm>
            <a:off x="0" y="6046644"/>
            <a:ext cx="11320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FDC526"/>
                </a:solidFill>
              </a:rPr>
              <a:t>Organizers</a:t>
            </a:r>
            <a:r>
              <a:rPr lang="en-US" altLang="zh-CN" b="1" dirty="0">
                <a:solidFill>
                  <a:srgbClr val="FDC526"/>
                </a:solidFill>
              </a:rPr>
              <a:t>: </a:t>
            </a:r>
            <a:r>
              <a:rPr lang="zh-CN" altLang="en-US" dirty="0">
                <a:solidFill>
                  <a:srgbClr val="FDC526"/>
                </a:solidFill>
              </a:rPr>
              <a:t>Shenghai Yuan</a:t>
            </a:r>
            <a:r>
              <a:rPr lang="en-US" altLang="zh-CN" dirty="0">
                <a:solidFill>
                  <a:srgbClr val="FDC526"/>
                </a:solidFill>
              </a:rPr>
              <a:t> (NTU) </a:t>
            </a:r>
            <a:r>
              <a:rPr lang="zh-CN" altLang="en-US" dirty="0">
                <a:solidFill>
                  <a:srgbClr val="FDC526"/>
                </a:solidFill>
              </a:rPr>
              <a:t>Dong Li</a:t>
            </a:r>
            <a:r>
              <a:rPr lang="en-US" altLang="zh-CN" dirty="0">
                <a:solidFill>
                  <a:srgbClr val="FDC526"/>
                </a:solidFill>
              </a:rPr>
              <a:t> (MUST&amp;CASIA) </a:t>
            </a:r>
            <a:r>
              <a:rPr lang="zh-CN" altLang="en-US" dirty="0">
                <a:solidFill>
                  <a:srgbClr val="FDC526"/>
                </a:solidFill>
              </a:rPr>
              <a:t>Muqing Cao </a:t>
            </a:r>
            <a:r>
              <a:rPr lang="en-US" altLang="zh-CN" dirty="0">
                <a:solidFill>
                  <a:srgbClr val="FDC526"/>
                </a:solidFill>
              </a:rPr>
              <a:t>(CMU) </a:t>
            </a:r>
            <a:r>
              <a:rPr lang="zh-CN" altLang="en-US" dirty="0">
                <a:solidFill>
                  <a:srgbClr val="FDC526"/>
                </a:solidFill>
              </a:rPr>
              <a:t>Yuchen Li </a:t>
            </a:r>
            <a:r>
              <a:rPr lang="en-US" altLang="zh-CN" dirty="0">
                <a:solidFill>
                  <a:srgbClr val="FDC526"/>
                </a:solidFill>
              </a:rPr>
              <a:t>(TUM) </a:t>
            </a:r>
            <a:r>
              <a:rPr lang="zh-CN" altLang="en-US" dirty="0">
                <a:solidFill>
                  <a:srgbClr val="FDC526"/>
                </a:solidFill>
              </a:rPr>
              <a:t>Long Chen </a:t>
            </a:r>
            <a:r>
              <a:rPr lang="en-US" altLang="zh-CN" dirty="0">
                <a:solidFill>
                  <a:srgbClr val="FDC526"/>
                </a:solidFill>
              </a:rPr>
              <a:t>(CASIA)</a:t>
            </a:r>
            <a:endParaRPr lang="zh-CN" altLang="en-US" dirty="0">
              <a:solidFill>
                <a:srgbClr val="FDC526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59E70DE-91D2-BD69-2399-CDB7DD47A530}"/>
              </a:ext>
            </a:extLst>
          </p:cNvPr>
          <p:cNvSpPr txBox="1"/>
          <p:nvPr/>
        </p:nvSpPr>
        <p:spPr>
          <a:xfrm>
            <a:off x="0" y="6531589"/>
            <a:ext cx="1219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</a:rPr>
              <a:t>Note: Special Session papers follow the </a:t>
            </a:r>
            <a:r>
              <a:rPr lang="en-US" altLang="zh-CN" sz="1400" b="1" dirty="0">
                <a:solidFill>
                  <a:schemeClr val="bg1"/>
                </a:solidFill>
              </a:rPr>
              <a:t>same</a:t>
            </a:r>
            <a:r>
              <a:rPr lang="en-US" altLang="zh-CN" sz="1400" dirty="0">
                <a:solidFill>
                  <a:schemeClr val="bg1"/>
                </a:solidFill>
              </a:rPr>
              <a:t> submission, review, acceptance, and publication process as regular conference papers.</a:t>
            </a:r>
          </a:p>
        </p:txBody>
      </p:sp>
    </p:spTree>
    <p:extLst>
      <p:ext uri="{BB962C8B-B14F-4D97-AF65-F5344CB8AC3E}">
        <p14:creationId xmlns:p14="http://schemas.microsoft.com/office/powerpoint/2010/main" val="1833940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9BC394DC-8E45-D354-7824-E5837DC0F7A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464668"/>
              </a:clrFrom>
              <a:clrTo>
                <a:srgbClr val="46466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33541" y="481486"/>
            <a:ext cx="4898242" cy="2733903"/>
          </a:xfrm>
          <a:prstGeom prst="rect">
            <a:avLst/>
          </a:prstGeom>
          <a:blipFill dpi="0" rotWithShape="1">
            <a:blip r:embed="rId3" cstate="print">
              <a:alphaModFix amt="86000"/>
              <a:clrChange>
                <a:clrFrom>
                  <a:srgbClr val="464668"/>
                </a:clrFrom>
                <a:clrTo>
                  <a:srgbClr val="464668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35D1444-C04C-66B5-2E2F-679F886A1B6C}"/>
              </a:ext>
            </a:extLst>
          </p:cNvPr>
          <p:cNvSpPr/>
          <p:nvPr/>
        </p:nvSpPr>
        <p:spPr>
          <a:xfrm>
            <a:off x="0" y="-1"/>
            <a:ext cx="12192000" cy="6115987"/>
          </a:xfrm>
          <a:prstGeom prst="rect">
            <a:avLst/>
          </a:prstGeom>
          <a:blipFill dpi="0" rotWithShape="1">
            <a:blip r:embed="rId4">
              <a:alphaModFix amt="5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163749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574</Words>
  <Application>Microsoft Office PowerPoint</Application>
  <PresentationFormat>宽屏</PresentationFormat>
  <Paragraphs>73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Outfit</vt:lpstr>
      <vt:lpstr>Arial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LD</dc:creator>
  <cp:lastModifiedBy>dong li</cp:lastModifiedBy>
  <cp:revision>73</cp:revision>
  <dcterms:created xsi:type="dcterms:W3CDTF">2023-08-09T12:44:00Z</dcterms:created>
  <dcterms:modified xsi:type="dcterms:W3CDTF">2026-02-21T02:28:02Z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